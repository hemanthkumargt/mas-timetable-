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3840480" cy="38404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480560"/>
            <a:ext cx="2926080" cy="292608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PRESENTATION  •  FUNDAMENTALS OF AI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37160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Agent-Based University Timetabling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85216" y="288036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Decentralized Multi-Agent Negotiation Approach to Academic Scheduling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85216" y="3429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Net Protocol   •   Asynchronous Backtracking   •   Nogood Learning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85216" y="448056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Hemanth Kumar G T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CB.SC.U4CSE23760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 Hiruthik M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CB.SC.U4CSE23745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Artificial Intelligence (23CSE401)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Timetabling is an NP-hard problem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54480"/>
            <a:ext cx="6035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every class session onto a grid of time slots and rooms.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teacher, room or student group may ever be double-booked.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room must fit the class and match its type (lecture / lab).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is |T·R| to the power of the number of sessions — intractable.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0" y="1508760"/>
            <a:ext cx="4297680" cy="1234440"/>
          </a:xfrm>
          <a:prstGeom prst="roundRect">
            <a:avLst>
              <a:gd name="adj" fmla="val 7407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452360" y="1618488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778240" y="160020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slots (5 days × 8 periods)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0" y="2926080"/>
            <a:ext cx="4297680" cy="1234440"/>
          </a:xfrm>
          <a:prstGeom prst="roundRect">
            <a:avLst>
              <a:gd name="adj" fmla="val 7407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452360" y="3035808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8778240" y="301752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rules (H1–H6)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0" y="4343400"/>
            <a:ext cx="4297680" cy="1234440"/>
          </a:xfrm>
          <a:prstGeom prst="roundRect">
            <a:avLst>
              <a:gd name="adj" fmla="val 7407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452360" y="4453128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0" y="443484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types that negotiate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society of agents, not one solver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DF2F4"/>
          </a:solidFill>
          <a:ln w="12700">
            <a:solidFill>
              <a:srgbClr val="F6CAD2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solver (ILP / GA)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every teacher's private preferences in one place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change forces a full re-solve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final matrix — no audit trail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bottleneck; memory grows fast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36208" y="160020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4652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multi-agent system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33172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 stay private inside each Teacher agent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affected agents renegotiate locally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trail: CFP → BID → AWARD → COMMIT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Distributed, bounded message passing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SPECIFICATION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PEAS formulation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95528" y="17647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 Performance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2221992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timetable with zero H1–H6 violations; high faculty-preference score; least wasted room capacity; detects unsatisfiable cases.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36208" y="160020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64808" y="17647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— Environment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64808" y="2221992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Sessions, the 5×8 slot grid, rooms (capacity/type), teachers (availability/priority), student cohorts (enrolments), pre-booked slots.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74904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95528" y="3913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Actuators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4370832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messages (CFP, BID, AWARD, VALIDATE, NOGOOD, COMMIT…); locking/releasing a room slot; committing an assignment; recording a nogood.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36208" y="374904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64808" y="3913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Sensors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4370832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messages; a teacher's view of higher-priority commitments; each agent's own private tables (occupancy, schedule, nogoods).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95528" y="17556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observable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216712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sees only its own state + messages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36208" y="160020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64808" y="17556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64808" y="216712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Teacher, Room, Student agents cooperate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297180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95528" y="31272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353872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scenario → same result (reproducible)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36208" y="297180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64808" y="31272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353872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commitment constrains later ones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34340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95528" y="44988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(in a run)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491032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lock, release and backtrack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36208" y="434340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64808" y="44988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&amp; known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491032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slots; rules fixed in advance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TAXONOMY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kinds of autonomous agents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11680"/>
            <a:ext cx="640080" cy="64008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2788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Agent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32004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Initiator / optimiser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Contract Net, backtracks on clashes. Private: priority, availability, nogoods.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95528" y="5074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H1, H6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34256" y="173736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08576" y="2011680"/>
            <a:ext cx="640080" cy="6400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08576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562856" y="2788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Agent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562856" y="32004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manager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62856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Bids with a best-fit cost, rejects if booked / too small / wrong type.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62856" y="5074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H2, H4, H5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01584" y="173736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75904" y="201168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75904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8330184" y="2788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Agent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8330184" y="32004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guardian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330184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slot for clashes; sends NOGOOD if its courses overlap.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330184" y="5074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H3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Net Protocol — getting a room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325880" y="1645920"/>
            <a:ext cx="10241280" cy="914400"/>
          </a:xfrm>
          <a:prstGeom prst="roundRect">
            <a:avLst>
              <a:gd name="adj" fmla="val 10000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554480" y="1773936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for Proposal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17373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picks its best slot and broadcasts a CFP to every room.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77063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325880" y="2724912"/>
            <a:ext cx="10241280" cy="914400"/>
          </a:xfrm>
          <a:prstGeom prst="roundRect">
            <a:avLst>
              <a:gd name="adj" fmla="val 10000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554480" y="285292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or Reject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281635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room checks capacity (H4), type (H5) and whether it is free (H2); it replies BID with a cost, or REJECT with a reason.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849624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325880" y="3803904"/>
            <a:ext cx="10241280" cy="914400"/>
          </a:xfrm>
          <a:prstGeom prst="roundRect">
            <a:avLst>
              <a:gd name="adj" fmla="val 10000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554480" y="39319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Best-fit wins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3895344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= wasted seats + building bonus, so the tightest-fitting room wins.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92861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928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325880" y="4882896"/>
            <a:ext cx="10241280" cy="914400"/>
          </a:xfrm>
          <a:prstGeom prst="roundRect">
            <a:avLst>
              <a:gd name="adj" fmla="val 10000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554480" y="501091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 &amp; Release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389120" y="4974336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AWARDs the winner and RELEASEs the rest — no orphaned locks.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Backtracking + Nogood Learning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325880" y="1783080"/>
            <a:ext cx="10241280" cy="914400"/>
          </a:xfrm>
          <a:prstGeom prst="roundRect">
            <a:avLst>
              <a:gd name="adj" fmla="val 10000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554480" y="191109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18745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asks each enrolled student cohort to check the slot for clashes (H3).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907792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325880" y="2862072"/>
            <a:ext cx="10241280" cy="914400"/>
          </a:xfrm>
          <a:prstGeom prst="roundRect">
            <a:avLst>
              <a:gd name="adj" fmla="val 10000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554480" y="299008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Nogood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2953512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cohort already has a class then, it replies NOGOOD and the teacher records the bad slot.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986784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325880" y="3941064"/>
            <a:ext cx="10241280" cy="914400"/>
          </a:xfrm>
          <a:prstGeom prst="roundRect">
            <a:avLst>
              <a:gd name="adj" fmla="val 10000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554480" y="4069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 (O(1))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4032504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slot is removed from the domain and never tried again — the search shrinks, so it cannot loop.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065776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5065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325880" y="5020056"/>
            <a:ext cx="10241280" cy="914400"/>
          </a:xfrm>
          <a:prstGeom prst="roundRect">
            <a:avLst>
              <a:gd name="adj" fmla="val 10000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554480" y="514807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Agent-view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206240" y="5111496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teachers broadcast commitments; junior teachers avoid those slots up front.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conflict: CSE401 finds a clash, then fixes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237744" cy="23774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17373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tries CSE401 at Monday P2 and asks all rooms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85800" y="2560320"/>
            <a:ext cx="237744" cy="23774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4688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R101 rejects — already booked (H2); small room rejects — capacity (H4); lab rejects — wrong type (H5)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85800" y="3291840"/>
            <a:ext cx="237744" cy="23774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2004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R204 bids (best fit) → T1 awards R204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85800" y="4023360"/>
            <a:ext cx="237744" cy="23774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393192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S7 sends NOGOOD — it has CSE330 at Monday P2 (H3)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85800" y="4754880"/>
            <a:ext cx="237744" cy="23774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46634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learns the nogood, releases R204 and backtracks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85800" y="5486400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43000" y="53949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at Tuesday P3 → R204 bids → S7 accepts → COMMIT ✓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hard rules, checked independently (H1–H6)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993392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95528" y="199339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801368" y="199339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non-overlap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34256" y="173736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62856" y="1993392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62856" y="199339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568696" y="199339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non-overlap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01584" y="173736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30184" y="1993392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30184" y="199339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336024" y="199339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non-overlap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" y="347472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5528" y="3730752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73075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801368" y="373075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capacity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334256" y="347472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62856" y="3730752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62856" y="373075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5568696" y="373075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type match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101584" y="347472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30184" y="3730752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30184" y="373075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9336024" y="373075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availability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validator (constraints.py) audits the final timetable — the agents do not grade themselves.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packages &amp; setup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760720" cy="841248"/>
          </a:xfrm>
          <a:prstGeom prst="roundRect">
            <a:avLst>
              <a:gd name="adj" fmla="val 10870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7830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dataclasses + enums for clean, immutable agents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679192"/>
            <a:ext cx="5760720" cy="841248"/>
          </a:xfrm>
          <a:prstGeom prst="roundRect">
            <a:avLst>
              <a:gd name="adj" fmla="val 10870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277063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1.32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277063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pure-Python interactive dashboard &amp; studio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3666744"/>
            <a:ext cx="5760720" cy="841248"/>
          </a:xfrm>
          <a:prstGeom prst="roundRect">
            <a:avLst>
              <a:gd name="adj" fmla="val 10870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375818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plotly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375818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matrix and telemetry charts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4654296"/>
            <a:ext cx="5760720" cy="841248"/>
          </a:xfrm>
          <a:prstGeom prst="roundRect">
            <a:avLst>
              <a:gd name="adj" fmla="val 10870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" y="474573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108960" y="4745736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18-case automated verification suite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29400" y="1691640"/>
            <a:ext cx="4983480" cy="3931920"/>
          </a:xfrm>
          <a:prstGeom prst="roundRect">
            <a:avLst>
              <a:gd name="adj" fmla="val 232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90372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run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37744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venv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venv/bin/activate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app.py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http://localhost:8501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test_scheduling.py -v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scenarios &amp; testing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657600" cy="3840480"/>
          </a:xfrm>
          <a:prstGeom prst="roundRect">
            <a:avLst>
              <a:gd name="adj" fmla="val 2500"/>
            </a:avLst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66928" y="23774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0233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H1–H6, Contract Net flow, backtracking, cost function and the unsatisfiable case.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26280" y="1737360"/>
            <a:ext cx="7086600" cy="658368"/>
          </a:xfrm>
          <a:prstGeom prst="roundRect">
            <a:avLst>
              <a:gd name="adj" fmla="val 13889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754880" y="181051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(with a clash)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1810512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canonical CSE401 conflict + fix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26280" y="2523744"/>
            <a:ext cx="7086600" cy="658368"/>
          </a:xfrm>
          <a:prstGeom prst="roundRect">
            <a:avLst>
              <a:gd name="adj" fmla="val 13889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754880" y="259689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Clash Example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498080" y="259689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room/slot contention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26280" y="3310128"/>
            <a:ext cx="7086600" cy="658368"/>
          </a:xfrm>
          <a:prstGeom prst="roundRect">
            <a:avLst>
              <a:gd name="adj" fmla="val 13889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754880" y="338328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Case (no answer)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498080" y="338328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unsatisfiable — fails gracefully, no false success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26280" y="4096512"/>
            <a:ext cx="7086600" cy="658368"/>
          </a:xfrm>
          <a:prstGeom prst="roundRect">
            <a:avLst>
              <a:gd name="adj" fmla="val 13889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754880" y="416966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Timetable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4169664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department, to show scale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26280" y="4882896"/>
            <a:ext cx="7086600" cy="658368"/>
          </a:xfrm>
          <a:prstGeom prst="roundRect">
            <a:avLst>
              <a:gd name="adj" fmla="val 13889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754880" y="495604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495604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custom teachers/rooms/courses live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structure &amp; scalability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394960" cy="768096"/>
          </a:xfrm>
          <a:prstGeom prst="roundRect">
            <a:avLst>
              <a:gd name="adj" fmla="val 11905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737360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898648" y="1737360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value types + enums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36208" y="1645920"/>
            <a:ext cx="5394960" cy="768096"/>
          </a:xfrm>
          <a:prstGeom prst="roundRect">
            <a:avLst>
              <a:gd name="adj" fmla="val 11905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37376" y="1737360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agents.py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567928" y="1737360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agent classes &amp; local logic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2560320"/>
            <a:ext cx="5394960" cy="768096"/>
          </a:xfrm>
          <a:prstGeom prst="roundRect">
            <a:avLst>
              <a:gd name="adj" fmla="val 11905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68096" y="2651760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scheduler.py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898648" y="2651760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orchestrator: priority, steps, stats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36208" y="2560320"/>
            <a:ext cx="5394960" cy="768096"/>
          </a:xfrm>
          <a:prstGeom prst="roundRect">
            <a:avLst>
              <a:gd name="adj" fmla="val 11905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37376" y="2651760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constraints.py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567928" y="2651760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H1–H6 validator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3474720"/>
            <a:ext cx="5394960" cy="768096"/>
          </a:xfrm>
          <a:prstGeom prst="roundRect">
            <a:avLst>
              <a:gd name="adj" fmla="val 11905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68096" y="3566160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demo_data.py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898648" y="3566160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scenarios + custom builder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36208" y="3474720"/>
            <a:ext cx="5394960" cy="768096"/>
          </a:xfrm>
          <a:prstGeom prst="roundRect">
            <a:avLst>
              <a:gd name="adj" fmla="val 11905"/>
            </a:avLst>
          </a:prstGeom>
          <a:solidFill>
            <a:srgbClr val="F5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37376" y="3566160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567928" y="3566160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(steps, matrix, rules)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45720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files have zero UI imports — they run headless and in tests.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validator is separate from the agents — no self-grading.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teacher, room or course is just one more agent / spec.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663440"/>
            <a:ext cx="3657600" cy="36576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280160"/>
            <a:ext cx="3291840" cy="32918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18872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 society of agents beats a black-box solver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85216" y="265176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Net allocates rooms; backtracking + nogoods resolve clashes without looping.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validator guarantees a clash-free result — or honest failure.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demo + 18 passing tests make it easy to show and defend.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4937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Questions?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85216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Hemanth Kumar G T (CB.SC.U4CSE23760)   •   Saran Hiruthik M (CB.SC.U4CSE23745)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Agent-Based University Timetabling</dc:title>
  <dc:subject>PptxGenJS Presentation</dc:subject>
  <dc:creator>Hemanth Kumar G T &amp; Saran Hiruthik M</dc:creator>
  <cp:lastModifiedBy>Hemanth Kumar G T &amp; Saran Hiruthik M</cp:lastModifiedBy>
  <cp:revision>1</cp:revision>
  <dcterms:created xsi:type="dcterms:W3CDTF">2026-10-26T13:44:47Z</dcterms:created>
  <dcterms:modified xsi:type="dcterms:W3CDTF">2026-10-26T13:44:47Z</dcterms:modified>
</cp:coreProperties>
</file>